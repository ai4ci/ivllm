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0" r:id="rId4"/>
  </p:sldMasterIdLst>
  <p:notesMasterIdLst>
    <p:notesMasterId r:id="rId20"/>
  </p:notesMasterIdLst>
  <p:handoutMasterIdLst>
    <p:handoutMasterId r:id="rId21"/>
  </p:handoutMasterIdLst>
  <p:sldIdLst>
    <p:sldId id="268" r:id="rId5"/>
    <p:sldId id="291" r:id="rId6"/>
    <p:sldId id="301" r:id="rId7"/>
    <p:sldId id="304" r:id="rId8"/>
    <p:sldId id="305" r:id="rId9"/>
    <p:sldId id="289" r:id="rId10"/>
    <p:sldId id="300" r:id="rId11"/>
    <p:sldId id="293" r:id="rId12"/>
    <p:sldId id="292" r:id="rId13"/>
    <p:sldId id="294" r:id="rId14"/>
    <p:sldId id="296" r:id="rId15"/>
    <p:sldId id="297" r:id="rId16"/>
    <p:sldId id="295" r:id="rId17"/>
    <p:sldId id="298" r:id="rId18"/>
    <p:sldId id="299" r:id="rId1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Light" panose="020B0306030504020204" pitchFamily="34" charset="0"/>
      <p:regular r:id="rId26"/>
      <p:italic r:id="rId27"/>
    </p:embeddedFont>
    <p:embeddedFont>
      <p:font typeface="Open Sans Medium" panose="020B0604020202020204" charset="0"/>
      <p:regular r:id="rId28"/>
      <p:italic r:id="rId29"/>
    </p:embeddedFont>
    <p:embeddedFont>
      <p:font typeface="Open Sans SemiBold" panose="020B0706030804020204" pitchFamily="34" charset="0"/>
      <p:regular r:id="rId30"/>
      <p:bold r:id="rId31"/>
      <p:italic r:id="rId32"/>
      <p:boldItalic r:id="rId33"/>
    </p:embeddedFont>
    <p:embeddedFont>
      <p:font typeface="Sora SemiBold" panose="020B0604020202020204" charset="0"/>
      <p:regular r:id="rId34"/>
      <p:bold r:id="rId35"/>
    </p:embeddedFont>
  </p:embeddedFont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92E"/>
    <a:srgbClr val="70DEFF"/>
    <a:srgbClr val="E7DFC6"/>
    <a:srgbClr val="BBE977"/>
    <a:srgbClr val="FFADFC"/>
    <a:srgbClr val="FFFFFF"/>
    <a:srgbClr val="FFD942"/>
    <a:srgbClr val="A91F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2A769-6ADB-5DB2-5B20-306C84DA2849}" v="57" dt="2026-09-10T14:13:08.923"/>
    <p1510:client id="{D58DEEB7-38D4-355E-1570-C82D0697761F}" v="2247" dt="2026-09-10T13:50:11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39"/>
  </p:normalViewPr>
  <p:slideViewPr>
    <p:cSldViewPr snapToGrid="0">
      <p:cViewPr varScale="1">
        <p:scale>
          <a:sx n="102" d="100"/>
          <a:sy n="102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8" d="100"/>
          <a:sy n="118" d="100"/>
        </p:scale>
        <p:origin x="395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77248F-8AB1-9FCD-D530-6EAE630B05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BA78A-645E-A9D2-7C9C-5BD691725E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24E28-63F4-3F4F-8AC1-21DFC28CC6B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69117-6840-7449-07F3-9F11580FC1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Presentation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C767C-DDB2-3F7B-8A22-64BC465001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69680-2069-844B-A044-41BD6D1CB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286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965D1-09F0-4F3B-8A24-D1993AC9C617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Presentation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CC2F7-CEBA-4292-8D5B-B5693DC78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7527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page_Style 1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3353031" y="1470149"/>
            <a:ext cx="4665859" cy="11016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3353031" y="2927922"/>
            <a:ext cx="4665859" cy="1195844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BC88DA-0FA3-C5F6-8307-0B493BA07F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8231" y="1778696"/>
            <a:ext cx="1697183" cy="14905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9600" dirty="0">
              <a:solidFill>
                <a:srgbClr val="FFFFFF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7DEFDD-4EF5-FF38-DDE9-65DB1C2D1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474849" y="1311750"/>
            <a:ext cx="2520000" cy="252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5B053E3-2591-5ECF-DBB7-96C821F9C0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74849" y="-1324546"/>
            <a:ext cx="2520000" cy="252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DE3BEB5-D33A-D721-EE7E-B9F87CAAA8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74849" y="3948043"/>
            <a:ext cx="2520000" cy="2520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DB322CBB-3BB5-74C9-9DFA-A26C872870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821" y="4206580"/>
            <a:ext cx="1405920" cy="40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21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page_Style 2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3353031" y="1470149"/>
            <a:ext cx="4665859" cy="11016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3353031" y="2927921"/>
            <a:ext cx="4665859" cy="1213773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BC88DA-0FA3-C5F6-8307-0B493BA07F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8231" y="1778696"/>
            <a:ext cx="1697183" cy="14905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sz="9600" dirty="0">
              <a:solidFill>
                <a:srgbClr val="FFFFFF"/>
              </a:solidFill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4FA2BA17-88C8-EDF7-B3B7-F75C58AC9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2875085" cy="51673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descr="A row of white circles&#10;&#10;AI-generated content may be incorrect.">
            <a:extLst>
              <a:ext uri="{FF2B5EF4-FFF2-40B4-BE49-F238E27FC236}">
                <a16:creationId xmlns:a16="http://schemas.microsoft.com/office/drawing/2014/main" id="{22A81893-0256-E9F9-A41F-5B3D3EF0EA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95" y="71719"/>
            <a:ext cx="2499047" cy="1405714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24ED7F17-6D10-D2D2-F5E4-4A935CD962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821" y="4206580"/>
            <a:ext cx="1405920" cy="40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4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page_Style 3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32B7BF-B53F-D77C-AFE8-62C84D5CE2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1103" y="4220146"/>
            <a:ext cx="1375575" cy="39780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CD82FDB-EF48-E4C3-D028-712EE5700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1174035" y="1470149"/>
            <a:ext cx="4665859" cy="11016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chemeClr val="bg1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Click to edit title for presentation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A67A3E2-C7EB-DF4A-BB8D-9FBE6B9AE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174035" y="2927921"/>
            <a:ext cx="4665859" cy="1292225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  <a:latin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Edit subtitle for presentation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2" name="Picture 1" descr="A row of white circles&#10;&#10;AI-generated content may be incorrect.">
            <a:extLst>
              <a:ext uri="{FF2B5EF4-FFF2-40B4-BE49-F238E27FC236}">
                <a16:creationId xmlns:a16="http://schemas.microsoft.com/office/drawing/2014/main" id="{337B8B00-F50C-AE22-2F9B-511551F018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035" y="71719"/>
            <a:ext cx="2499047" cy="140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er option - Yellow">
    <p:bg>
      <p:bgPr>
        <a:solidFill>
          <a:srgbClr val="FFD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ow of red circles&#10;&#10;AI-generated content may be incorrect.">
            <a:extLst>
              <a:ext uri="{FF2B5EF4-FFF2-40B4-BE49-F238E27FC236}">
                <a16:creationId xmlns:a16="http://schemas.microsoft.com/office/drawing/2014/main" id="{E264F266-FE0A-90E5-8FE4-9D32C6C887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176681" y="385763"/>
            <a:ext cx="7772400" cy="43719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49618-BB70-EF25-F3C2-10092EC971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3200670" y="1901591"/>
            <a:ext cx="5259600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EE1B40-3947-E33D-075D-0CC16C0B32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67740" y="2020949"/>
            <a:ext cx="4665859" cy="1101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none" baseline="0">
                <a:solidFill>
                  <a:schemeClr val="bg1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4DEA91-0F8F-FD6E-8F0B-057A1E3F79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56328" y="1995191"/>
            <a:ext cx="2506382" cy="914400"/>
          </a:xfrm>
        </p:spPr>
        <p:txBody>
          <a:bodyPr/>
          <a:lstStyle>
            <a:lvl1pPr algn="ctr">
              <a:buNone/>
              <a:defRPr sz="96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6515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451030" y="2131594"/>
            <a:ext cx="446164" cy="16917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900" baseline="0">
                <a:solidFill>
                  <a:srgbClr val="A6192E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cap="none" baseline="0" dirty="0"/>
              <a:t>01</a:t>
            </a:r>
          </a:p>
          <a:p>
            <a:r>
              <a:rPr lang="en-GB" cap="none" baseline="0" dirty="0"/>
              <a:t>04</a:t>
            </a:r>
          </a:p>
          <a:p>
            <a:r>
              <a:rPr lang="en-GB" cap="none" baseline="0" dirty="0"/>
              <a:t>06</a:t>
            </a:r>
          </a:p>
          <a:p>
            <a:r>
              <a:rPr lang="en-GB" cap="none" baseline="0" dirty="0"/>
              <a:t>09</a:t>
            </a:r>
          </a:p>
          <a:p>
            <a:r>
              <a:rPr lang="en-GB" cap="none" baseline="0" dirty="0"/>
              <a:t>12</a:t>
            </a:r>
          </a:p>
          <a:p>
            <a:r>
              <a:rPr lang="en-GB" cap="none" baseline="0" dirty="0"/>
              <a:t>15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46760E9-BA1E-5184-E44C-FC2B896CF6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003511" y="2131453"/>
            <a:ext cx="897281" cy="169149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900" baseline="0"/>
            </a:lvl1pPr>
          </a:lstStyle>
          <a:p>
            <a:pPr lvl="0"/>
            <a:r>
              <a:rPr lang="en-GB" dirty="0"/>
              <a:t>Section 1</a:t>
            </a:r>
          </a:p>
          <a:p>
            <a:pPr lvl="0"/>
            <a:r>
              <a:rPr lang="en-GB" dirty="0"/>
              <a:t>Section 2</a:t>
            </a:r>
          </a:p>
          <a:p>
            <a:pPr lvl="0"/>
            <a:r>
              <a:rPr lang="en-GB" dirty="0"/>
              <a:t>Section 3</a:t>
            </a:r>
          </a:p>
          <a:p>
            <a:pPr lvl="0"/>
            <a:r>
              <a:rPr lang="en-GB" dirty="0"/>
              <a:t>Section 4</a:t>
            </a:r>
          </a:p>
          <a:p>
            <a:pPr lvl="0"/>
            <a:r>
              <a:rPr lang="en-GB" dirty="0"/>
              <a:t>Section 5</a:t>
            </a:r>
          </a:p>
          <a:p>
            <a:pPr lvl="0"/>
            <a:r>
              <a:rPr lang="en-GB" dirty="0"/>
              <a:t>Section 6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54B27B-140F-6C92-8578-CAEDFF316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51031" y="781129"/>
            <a:ext cx="4377002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title goes here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E62A01-E3AD-2324-6FA3-74027CC441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E5A7DF-6A1C-427A-6D98-2274CCF644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771" y="4033233"/>
            <a:ext cx="1134331" cy="1134331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64F54A-4E4A-02F4-3416-234B7584CE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5248275" y="0"/>
            <a:ext cx="3895725" cy="51673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Picture 6" descr="A group of blue circles&#10;&#10;AI-generated content may be incorrect.">
            <a:extLst>
              <a:ext uri="{FF2B5EF4-FFF2-40B4-BE49-F238E27FC236}">
                <a16:creationId xmlns:a16="http://schemas.microsoft.com/office/drawing/2014/main" id="{D27706F7-5403-C373-C514-21A70CC46A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30" y="4571386"/>
            <a:ext cx="696452" cy="39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1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Stone">
    <p:bg>
      <p:bgPr>
        <a:solidFill>
          <a:srgbClr val="E7D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16F30F-F3BB-F7C4-B688-BE5ED13239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3200670" y="1901591"/>
            <a:ext cx="5259600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2EBB1D4-6456-6348-DF34-80A8B7971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56328" y="1909720"/>
            <a:ext cx="2506382" cy="914400"/>
          </a:xfrm>
        </p:spPr>
        <p:txBody>
          <a:bodyPr/>
          <a:lstStyle>
            <a:lvl1pPr algn="ctr">
              <a:buNone/>
              <a:defRPr sz="9600">
                <a:solidFill>
                  <a:srgbClr val="A6192E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pic>
        <p:nvPicPr>
          <p:cNvPr id="5" name="Picture 4" descr="A row of red circles&#10;&#10;AI-generated content may be incorrect.">
            <a:extLst>
              <a:ext uri="{FF2B5EF4-FFF2-40B4-BE49-F238E27FC236}">
                <a16:creationId xmlns:a16="http://schemas.microsoft.com/office/drawing/2014/main" id="{6EDCFBD7-8369-9AF1-04B3-4A0508DCDC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167537" y="312124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2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paragraph with Image (Left) 1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8CD982D-A440-A123-C52A-293FE7DD6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67670" y="540211"/>
            <a:ext cx="3454626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1A2D00-3913-3091-FD66-443F9918B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83CEDC9-ABA5-8DE1-235B-479817E19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771" y="4033233"/>
            <a:ext cx="1134331" cy="113433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F87A8-DEC8-A3FB-3919-97E77FC1CD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4572000" y="0"/>
            <a:ext cx="4572000" cy="51673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6B16581-105D-BCE6-4C72-29D92B8DBB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68314" y="1884033"/>
            <a:ext cx="3555046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E5624A7-358F-0EEB-116A-C84C455B0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68314" y="2596503"/>
            <a:ext cx="3555046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  <p:pic>
        <p:nvPicPr>
          <p:cNvPr id="5" name="Picture 4" descr="A row of pink circles&#10;&#10;AI-generated content may be incorrect.">
            <a:extLst>
              <a:ext uri="{FF2B5EF4-FFF2-40B4-BE49-F238E27FC236}">
                <a16:creationId xmlns:a16="http://schemas.microsoft.com/office/drawing/2014/main" id="{83363666-2D2F-C94B-68AC-FDBEF4FFD5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83" y="4563638"/>
            <a:ext cx="690799" cy="38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1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paragraph with image (Right) 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5269928" y="542327"/>
            <a:ext cx="3188766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FEF78D-1D46-12F1-4B85-24317AACE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403FB-1C02-A6AF-30DB-01D7901D17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4572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6D0A891-CF17-EB27-06ED-6AE40C82A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5265769" y="1884033"/>
            <a:ext cx="3555046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89480697-3520-0367-9228-E2B58E89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265769" y="2596503"/>
            <a:ext cx="3555046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  <p:pic>
        <p:nvPicPr>
          <p:cNvPr id="5" name="Picture 4" descr="A row of yellow circles&#10;&#10;AI-generated content may be incorrect.">
            <a:extLst>
              <a:ext uri="{FF2B5EF4-FFF2-40B4-BE49-F238E27FC236}">
                <a16:creationId xmlns:a16="http://schemas.microsoft.com/office/drawing/2014/main" id="{E9D548D2-6EDD-8416-70CD-7DC1B9F30D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769" y="4543143"/>
            <a:ext cx="669367" cy="37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0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Pink">
    <p:bg>
      <p:bgPr>
        <a:solidFill>
          <a:srgbClr val="FFA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ow of red circles&#10;&#10;AI-generated content may be incorrect.">
            <a:extLst>
              <a:ext uri="{FF2B5EF4-FFF2-40B4-BE49-F238E27FC236}">
                <a16:creationId xmlns:a16="http://schemas.microsoft.com/office/drawing/2014/main" id="{15EDEF21-5203-96DD-08EC-4B32F08D9F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176681" y="385763"/>
            <a:ext cx="7772400" cy="43719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EAF06FD-A58D-ABA2-925D-FB57B65899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3200670" y="1901591"/>
            <a:ext cx="5259600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0D8E740E-1005-2E37-232B-8BB1469DF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56328" y="1995191"/>
            <a:ext cx="2506382" cy="914400"/>
          </a:xfrm>
        </p:spPr>
        <p:txBody>
          <a:bodyPr/>
          <a:lstStyle>
            <a:lvl1pPr algn="ctr">
              <a:buNone/>
              <a:defRPr sz="96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35748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short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26D2E84-653D-EC92-68F6-45D3513C2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18EFF-7099-2F5C-9428-2B6B5B994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67670" y="540211"/>
            <a:ext cx="4104330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F27E8A3B-97CF-27DE-830F-DD137C6C5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hart" sz="quarter" idx="11"/>
          </p:nvPr>
        </p:nvSpPr>
        <p:spPr>
          <a:xfrm>
            <a:off x="4927600" y="539750"/>
            <a:ext cx="3760788" cy="3533775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E3B3618-D5AD-9407-ED2A-9E1E9D8693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68314" y="1884033"/>
            <a:ext cx="3555046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C94BE64-CCF6-C70F-A099-70625A491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68314" y="2596503"/>
            <a:ext cx="3555046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</p:spTree>
    <p:extLst>
      <p:ext uri="{BB962C8B-B14F-4D97-AF65-F5344CB8AC3E}">
        <p14:creationId xmlns:p14="http://schemas.microsoft.com/office/powerpoint/2010/main" val="208049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and imag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5269928" y="542327"/>
            <a:ext cx="3188766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F10B272-E89D-AAEC-0ADA-261325084F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5265770" y="1925637"/>
            <a:ext cx="3188766" cy="1292225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  <a:latin typeface="Open Sans SemiBold" pitchFamily="2" charset="0"/>
              </a:defRPr>
            </a:lvl1pPr>
          </a:lstStyle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2FEF78D-1D46-12F1-4B85-24317AACE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1FCAF-CD85-5F85-68DA-CC757CA878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4572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5" name="Picture 4" descr="A row of red circles&#10;&#10;AI-generated content may be incorrect.">
            <a:extLst>
              <a:ext uri="{FF2B5EF4-FFF2-40B4-BE49-F238E27FC236}">
                <a16:creationId xmlns:a16="http://schemas.microsoft.com/office/drawing/2014/main" id="{29EEC352-0384-8379-8F67-FDC8AE21B6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770" y="4565313"/>
            <a:ext cx="677830" cy="38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64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with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1A2D00-3913-3091-FD66-443F9918B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83CEDC9-ABA5-8DE1-235B-479817E19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771" y="4033233"/>
            <a:ext cx="1134331" cy="1134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3071F-E3BC-A047-2082-65B610578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67669" y="542327"/>
            <a:ext cx="3188766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B72556E-6B06-6C1F-1BF8-E467D35F5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63511" y="1925637"/>
            <a:ext cx="3188766" cy="1292225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  <a:latin typeface="Open Sans SemiBold" pitchFamily="2" charset="0"/>
              </a:defRPr>
            </a:lvl1pPr>
          </a:lstStyle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  <a:p>
            <a:r>
              <a:rPr lang="en-GB" dirty="0"/>
              <a:t> Bullet point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07812F-E76D-0862-D865-DC29D87B90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4572000" y="0"/>
            <a:ext cx="4572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Picture 2" descr="A row of yellow circles&#10;&#10;AI-generated content may be incorrect.">
            <a:extLst>
              <a:ext uri="{FF2B5EF4-FFF2-40B4-BE49-F238E27FC236}">
                <a16:creationId xmlns:a16="http://schemas.microsoft.com/office/drawing/2014/main" id="{71387648-9796-9C4D-C76E-FAF1C8E04D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11" y="165808"/>
            <a:ext cx="669367" cy="37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4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Green">
    <p:bg>
      <p:bgPr>
        <a:solidFill>
          <a:srgbClr val="BBE9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803A43-318F-2CFB-57F2-8500E8BAFE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3200670" y="1901591"/>
            <a:ext cx="5259600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pic>
        <p:nvPicPr>
          <p:cNvPr id="2" name="Picture 1" descr="A row of red circles&#10;&#10;AI-generated content may be incorrect.">
            <a:extLst>
              <a:ext uri="{FF2B5EF4-FFF2-40B4-BE49-F238E27FC236}">
                <a16:creationId xmlns:a16="http://schemas.microsoft.com/office/drawing/2014/main" id="{E94408D4-EB13-8B42-C2CC-21ACFBDE16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176681" y="385763"/>
            <a:ext cx="7772400" cy="4371975"/>
          </a:xfrm>
          <a:prstGeom prst="rect">
            <a:avLst/>
          </a:prstGeom>
        </p:spPr>
      </p:pic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9E66CBE5-C30C-9EBC-891E-2E5CBAD440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56328" y="1995191"/>
            <a:ext cx="2506382" cy="914400"/>
          </a:xfrm>
        </p:spPr>
        <p:txBody>
          <a:bodyPr/>
          <a:lstStyle>
            <a:lvl1pPr algn="ctr">
              <a:buNone/>
              <a:defRPr sz="9600">
                <a:solidFill>
                  <a:srgbClr val="FFFFFF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661588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har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67669" y="29151"/>
            <a:ext cx="6208199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DD2453-E972-EA7E-8E31-AC52B0DE22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CD9C1A63-2115-4E93-25FF-60913415AA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hart" sz="quarter" idx="10"/>
          </p:nvPr>
        </p:nvSpPr>
        <p:spPr>
          <a:xfrm>
            <a:off x="467668" y="1577406"/>
            <a:ext cx="8220003" cy="235451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249537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paragraph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57296" y="547311"/>
            <a:ext cx="6208199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2" name="Content Placeholder 34">
            <a:extLst>
              <a:ext uri="{FF2B5EF4-FFF2-40B4-BE49-F238E27FC236}">
                <a16:creationId xmlns:a16="http://schemas.microsoft.com/office/drawing/2014/main" id="{CA197105-9BC7-6FAD-A73D-225929656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0" hasCustomPrompt="1"/>
          </p:nvPr>
        </p:nvSpPr>
        <p:spPr>
          <a:xfrm>
            <a:off x="3404937" y="2203007"/>
            <a:ext cx="5281767" cy="2057409"/>
          </a:xfrm>
        </p:spPr>
        <p:txBody>
          <a:bodyPr/>
          <a:lstStyle>
            <a:lvl1pPr marL="0" indent="0">
              <a:buFontTx/>
              <a:buNone/>
              <a:defRPr sz="800" b="0" i="0" baseline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Insert additional content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630B94-0CBF-1FCA-605F-69B330A4A3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0C009-FA26-9112-76F8-C81306E61A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467670" y="2598126"/>
            <a:ext cx="2649999" cy="177357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4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B2486CCE-919C-1B19-2428-D890C01EE6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68313" y="1884033"/>
            <a:ext cx="2649355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1063008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Video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A9CCC-0BBA-5623-5B1A-59B18B2B46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latin typeface="Open Sans Medium" pitchFamily="2" charset="0"/>
            </a:endParaRPr>
          </a:p>
        </p:txBody>
      </p:sp>
      <p:sp>
        <p:nvSpPr>
          <p:cNvPr id="10" name="Content Placeholder 34">
            <a:extLst>
              <a:ext uri="{FF2B5EF4-FFF2-40B4-BE49-F238E27FC236}">
                <a16:creationId xmlns:a16="http://schemas.microsoft.com/office/drawing/2014/main" id="{2B810C65-BB20-C022-A401-C110053080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FontTx/>
              <a:buNone/>
              <a:defRPr sz="800" b="0" i="0" baseline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Insert video or full page image</a:t>
            </a:r>
          </a:p>
        </p:txBody>
      </p:sp>
    </p:spTree>
    <p:extLst>
      <p:ext uri="{BB962C8B-B14F-4D97-AF65-F5344CB8AC3E}">
        <p14:creationId xmlns:p14="http://schemas.microsoft.com/office/powerpoint/2010/main" val="4146326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Blue">
    <p:bg>
      <p:bgPr>
        <a:solidFill>
          <a:srgbClr val="70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w of red circles&#10;&#10;AI-generated content may be incorrect.">
            <a:extLst>
              <a:ext uri="{FF2B5EF4-FFF2-40B4-BE49-F238E27FC236}">
                <a16:creationId xmlns:a16="http://schemas.microsoft.com/office/drawing/2014/main" id="{07A1627C-77A6-B937-B843-025DFE652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167537" y="385763"/>
            <a:ext cx="7772400" cy="437197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B803A43-318F-2CFB-57F2-8500E8BAFE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670" y="1901591"/>
            <a:ext cx="5259600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Section divider</a:t>
            </a:r>
            <a:br>
              <a:rPr lang="en-GB" cap="none" baseline="0" dirty="0"/>
            </a:br>
            <a:r>
              <a:rPr lang="en-GB" cap="none" baseline="0" dirty="0"/>
              <a:t>title goes here</a:t>
            </a:r>
            <a:endParaRPr lang="en-GB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F3DC11E9-B88F-936C-5B30-C5ED6481A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328" y="1995191"/>
            <a:ext cx="2506382" cy="914400"/>
          </a:xfrm>
        </p:spPr>
        <p:txBody>
          <a:bodyPr/>
          <a:lstStyle>
            <a:lvl1pPr algn="ctr">
              <a:buNone/>
              <a:defRPr sz="9600">
                <a:solidFill>
                  <a:srgbClr val="A6192E"/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1958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hort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DBEE5A-7AF9-93C4-D908-BE43F5C23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457296" y="547311"/>
            <a:ext cx="6208199" cy="1101600"/>
          </a:xfrm>
          <a:prstGeom prst="rect">
            <a:avLst/>
          </a:prstGeom>
        </p:spPr>
        <p:txBody>
          <a:bodyPr anchor="b"/>
          <a:lstStyle>
            <a:lvl1pPr algn="l">
              <a:defRPr sz="27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in sentence case</a:t>
            </a:r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07D7E3B-F4BD-1890-15C2-94FE1CC6C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688077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1F46726-7D4A-0B20-A5A4-6723BC5A8E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67670" y="2598126"/>
            <a:ext cx="2072988" cy="216913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399D9-58BE-7662-0770-374C55E26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3222593" y="2598126"/>
            <a:ext cx="2072988" cy="216913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70B2120-2DC2-32CA-AEFE-63A5199EFD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5985989" y="2598126"/>
            <a:ext cx="2072988" cy="216913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placerat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In id cursus mi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pretium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tellus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duis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convallis. Tempus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leo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eu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aenean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sed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diam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urna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tempor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5812E-C942-68D2-043C-ED32896439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68314" y="1884033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6CAF53D-5750-3587-011A-865A3D1DA1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3223237" y="1884033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86347A-C1EB-F128-CF8C-3647E9AA85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5978160" y="1884033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532026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ircles Content with Keyline circle Yellow">
    <p:bg>
      <p:bgPr>
        <a:solidFill>
          <a:srgbClr val="FFD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w of red circles&#10;&#10;AI-generated content may be incorrect.">
            <a:extLst>
              <a:ext uri="{FF2B5EF4-FFF2-40B4-BE49-F238E27FC236}">
                <a16:creationId xmlns:a16="http://schemas.microsoft.com/office/drawing/2014/main" id="{FEF535AE-0343-A8BE-78BE-E306012786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21181" y="84931"/>
            <a:ext cx="8810011" cy="49556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latin typeface="Open Sans Medium" pitchFamily="2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30AAFB9-7A11-83B6-C361-0FC4905B8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598299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7247E58-8430-52E3-EF5C-0B0F6AEEC0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598943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5F9D80-26F8-291C-32D2-B8E1C1958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3589693" y="2423955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30B0858-08E1-9C98-86A8-159AF5BC9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3590337" y="1788844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FD8E480-93A5-EC11-6B29-2513FA8576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6581087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BC617D1-2A41-ACDA-7C4D-320547B1BE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6581731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1823558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ircles Content with Keyline circle Pink">
    <p:bg>
      <p:bgPr>
        <a:solidFill>
          <a:srgbClr val="FFA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15CDCF4D-B762-A17E-B788-F3DC1C766E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21181" y="84931"/>
            <a:ext cx="8810011" cy="49556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latin typeface="Open Sans Medium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A1593-7B3F-8101-3A90-F026AAF9A9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598299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85BBF97-D723-FAF0-56CE-B0E811D36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598943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FABD80-E4C3-A54C-BFB3-33898A7DB8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3589693" y="2423955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F1154BD-295E-3F73-08C5-07F9487F12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3590337" y="1788844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3525F61-EE2C-01A7-21D1-68EA981DA0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6581087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EB0347C-3F51-A075-FDAB-38C96B2330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6581731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2075625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ircles Content with Keyline Green">
    <p:bg>
      <p:bgPr>
        <a:solidFill>
          <a:srgbClr val="BBE9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3B47C9B3-DB71-D88E-042C-3116866519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21181" y="84931"/>
            <a:ext cx="8810011" cy="49556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latin typeface="Open Sans Medium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BBED3-104E-56C0-49DB-D903EFFBD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598299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F6D377F-4F43-20F5-CEA2-F38C153C26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598943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D0F1E0A-4ED0-7BBE-F98B-7C4C131178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3589693" y="2423955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0FD0DB7-326C-19DF-47AC-E023DDCA95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3590337" y="1788844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BEC53A9-AA2C-49AA-C050-2273175727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6581087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25AC09B-1F13-7B31-8B71-98A8E378C9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6581731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39721712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Circles Content with Keyline Blue">
    <p:bg>
      <p:bgPr>
        <a:solidFill>
          <a:srgbClr val="70D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w of red circles&#10;&#10;AI-generated content may be incorrect.">
            <a:extLst>
              <a:ext uri="{FF2B5EF4-FFF2-40B4-BE49-F238E27FC236}">
                <a16:creationId xmlns:a16="http://schemas.microsoft.com/office/drawing/2014/main" id="{B2EDE650-24D7-132C-87C9-B1C5E46350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21181" y="84931"/>
            <a:ext cx="8810011" cy="49556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latin typeface="Open Sans Medium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694A9-C57F-B7EB-A8C5-BD37E06CF4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598299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B851540-F96B-8942-50A7-5C33EFC377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598943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3239C5C-3676-8FC3-5239-11931DAE71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3589693" y="2423955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7CEFBB2-CCCB-0843-CDA5-2304017F9C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3590337" y="1788844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87260B5-6E2A-79CF-71CF-11D73FF0FA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6581087" y="2450082"/>
            <a:ext cx="2072988" cy="902720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ex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sapien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vitae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pellentesque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630FE4-3DFC-B7AB-6338-A784C4098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6581731" y="1814971"/>
            <a:ext cx="2072344" cy="478970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</p:spTree>
    <p:extLst>
      <p:ext uri="{BB962C8B-B14F-4D97-AF65-F5344CB8AC3E}">
        <p14:creationId xmlns:p14="http://schemas.microsoft.com/office/powerpoint/2010/main" val="4125370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ircles to insert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B39F40DF-B09E-D6E1-0C83-14D857BB2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230687" y="1206281"/>
            <a:ext cx="2835183" cy="2835183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E9425E11-09D8-E32F-A6CB-5C54618AB3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3176538" y="1220795"/>
            <a:ext cx="2835183" cy="2835183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BC4F24FF-9C21-EE32-F8C1-950B3EACD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122389" y="1206281"/>
            <a:ext cx="2835183" cy="2835183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B3F1-A1F1-FBA4-6B97-5ADE79AE92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latin typeface="Open Sans Medium" pitchFamily="2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30AAFB9-7A11-83B6-C361-0FC4905B8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84242" y="527079"/>
            <a:ext cx="2317681" cy="58682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2EBA64B-4536-F587-9F25-079A9BEA82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3413159" y="527079"/>
            <a:ext cx="2317681" cy="58682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840F602-8A28-9BB1-6E5C-4B393154F6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6342077" y="541634"/>
            <a:ext cx="2317681" cy="58682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3A19568-85C9-B34A-B603-3DEB3006A6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484242" y="4162867"/>
            <a:ext cx="2317681" cy="58682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83362F4-3053-EB71-C0EE-119CB7369C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3413159" y="4162867"/>
            <a:ext cx="2317681" cy="58682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59DB3EB-E3CE-2A2E-2F3B-E37A14EA95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6342077" y="4177422"/>
            <a:ext cx="2317681" cy="586827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200" b="1" i="0" baseline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Lorem ipsum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dolor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sit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amet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consectetur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adipiscing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elit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Quisque</a:t>
            </a:r>
            <a:r>
              <a:rPr lang="en-GB" b="0" i="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b="0" i="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faucibus</a:t>
            </a:r>
            <a:endParaRPr lang="en-GB" b="0" i="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177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f presentation">
    <p:bg>
      <p:bgPr>
        <a:solidFill>
          <a:srgbClr val="A6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D39FE1-CF16-FEF1-6975-60989ECD0E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8044" y="251375"/>
            <a:ext cx="4223956" cy="1101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none" baseline="0">
                <a:solidFill>
                  <a:srgbClr val="A6192E"/>
                </a:solidFill>
                <a:latin typeface="Sora SemiBold" pitchFamily="2" charset="0"/>
                <a:ea typeface="+mj-ea"/>
                <a:cs typeface="+mj-cs"/>
              </a:defRPr>
            </a:lvl1pPr>
          </a:lstStyle>
          <a:p>
            <a:pPr marL="0" indent="0" algn="l">
              <a:tabLst>
                <a:tab pos="2970213" algn="l"/>
                <a:tab pos="3233738" algn="l"/>
              </a:tabLst>
            </a:pPr>
            <a:r>
              <a:rPr lang="en-GB" sz="48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8F251-2857-AECB-9B3F-DEFB76E7D2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450836" y="1797948"/>
            <a:ext cx="3845394" cy="720281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600" b="1" i="0" baseline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Speaker Name</a:t>
            </a:r>
          </a:p>
          <a:p>
            <a:endParaRPr lang="en-GB" b="1" i="0" dirty="0"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C3A2189-BA6A-6363-00CC-2859C5FED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450835" y="2666676"/>
            <a:ext cx="3845394" cy="360141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Tx/>
              <a:buNone/>
              <a:tabLst>
                <a:tab pos="2922588" algn="l"/>
              </a:tabLst>
              <a:defRPr sz="1600" b="1" i="0" baseline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GB" b="1" i="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Web address or call to action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09CE836-530C-194E-D39F-850B82F68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50835" y="3277892"/>
            <a:ext cx="1371600" cy="137318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 descr="A group of green circles&#10;&#10;AI-generated content may be incorrect.">
            <a:extLst>
              <a:ext uri="{FF2B5EF4-FFF2-40B4-BE49-F238E27FC236}">
                <a16:creationId xmlns:a16="http://schemas.microsoft.com/office/drawing/2014/main" id="{D19CA162-DE26-7449-713A-250B7110EA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611" y="399822"/>
            <a:ext cx="1999129" cy="1124510"/>
          </a:xfrm>
          <a:prstGeom prst="rect">
            <a:avLst/>
          </a:prstGeom>
        </p:spPr>
      </p:pic>
      <p:pic>
        <p:nvPicPr>
          <p:cNvPr id="12" name="Picture 11" descr="A close-up of a logo&#10;&#10;AI-generated content may be incorrect.">
            <a:extLst>
              <a:ext uri="{FF2B5EF4-FFF2-40B4-BE49-F238E27FC236}">
                <a16:creationId xmlns:a16="http://schemas.microsoft.com/office/drawing/2014/main" id="{67744307-490C-C8A7-1CDD-0B179CE406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821" y="4206580"/>
            <a:ext cx="1405920" cy="40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3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C5AA6-CF9B-4C53-73CE-B44FEC941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15800" y="478393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Open Sans Medium" pitchFamily="2" charset="0"/>
              </a:defRPr>
            </a:lvl1pPr>
          </a:lstStyle>
          <a:p>
            <a:fld id="{5A75BA1B-3E56-C947-B661-1699EDF3EE73}" type="slidenum">
              <a:rPr lang="en-US" smtClean="0"/>
              <a:pPr/>
              <a:t>‹#›</a:t>
            </a:fld>
            <a:endParaRPr lang="en-US" dirty="0">
              <a:latin typeface="Open Sans Medium" pitchFamily="2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6FFDA2C-46C2-C774-A700-F4E4E345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2B6E0CB-EF03-F742-8CCF-E9A157FF1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588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0" r:id="rId2"/>
    <p:sldLayoutId id="2147483760" r:id="rId3"/>
    <p:sldLayoutId id="2147483752" r:id="rId4"/>
    <p:sldLayoutId id="2147483745" r:id="rId5"/>
    <p:sldLayoutId id="2147483753" r:id="rId6"/>
    <p:sldLayoutId id="2147483746" r:id="rId7"/>
    <p:sldLayoutId id="2147483747" r:id="rId8"/>
    <p:sldLayoutId id="2147483754" r:id="rId9"/>
    <p:sldLayoutId id="2147483695" r:id="rId10"/>
    <p:sldLayoutId id="2147483748" r:id="rId11"/>
    <p:sldLayoutId id="2147483749" r:id="rId12"/>
    <p:sldLayoutId id="2147483733" r:id="rId13"/>
    <p:sldLayoutId id="2147483738" r:id="rId14"/>
    <p:sldLayoutId id="2147483737" r:id="rId15"/>
    <p:sldLayoutId id="2147483742" r:id="rId16"/>
    <p:sldLayoutId id="2147483736" r:id="rId17"/>
    <p:sldLayoutId id="2147483735" r:id="rId18"/>
    <p:sldLayoutId id="2147483744" r:id="rId19"/>
    <p:sldLayoutId id="2147483755" r:id="rId20"/>
    <p:sldLayoutId id="2147483756" r:id="rId21"/>
    <p:sldLayoutId id="2147483758" r:id="rId22"/>
    <p:sldLayoutId id="2147483759" r:id="rId23"/>
    <p:sldLayoutId id="2147483739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 baseline="0">
          <a:solidFill>
            <a:schemeClr val="tx1"/>
          </a:solidFill>
          <a:latin typeface="Sora SemiBold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i="0" kern="1200" baseline="0">
          <a:solidFill>
            <a:schemeClr val="tx1"/>
          </a:solidFill>
          <a:latin typeface="Open Sans SemiBold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Open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Open Sans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9051-DD80-227C-FBF7-D269960BAF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ora SemiBold"/>
                <a:cs typeface="Sora SemiBold"/>
              </a:rPr>
              <a:t>ivllm</a:t>
            </a:r>
            <a:r>
              <a:rPr lang="en-US" dirty="0">
                <a:latin typeface="Sora SemiBold"/>
                <a:cs typeface="Sora SemiBold"/>
              </a:rPr>
              <a:t>: open weight inferencing on Isambard AI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34B2D-648D-6CA3-FDD0-E647B54446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1" dirty="0">
                <a:latin typeface="Open Sans SemiBold"/>
                <a:ea typeface="Open Sans SemiBold"/>
                <a:cs typeface="Open Sans SemiBold"/>
              </a:rPr>
              <a:t>Rob Challen AI4CI</a:t>
            </a:r>
          </a:p>
          <a:p>
            <a:r>
              <a:rPr lang="en-US" b="0" i="1" dirty="0">
                <a:latin typeface="Open Sans SemiBold"/>
                <a:ea typeface="Open Sans SemiBold"/>
                <a:cs typeface="Open Sans SemiBold"/>
              </a:rPr>
              <a:t>https://github.com/ai4ci/ivllm</a:t>
            </a:r>
            <a:endParaRPr lang="en-US" i="1" dirty="0"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15F823A-1294-DEFF-A27D-35999147BA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ln>
            <a:solidFill>
              <a:schemeClr val="accent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Placeholder 5" descr="A building with a tower and trees&#10;&#10;AI-generated content may be incorrect.">
            <a:extLst>
              <a:ext uri="{FF2B5EF4-FFF2-40B4-BE49-F238E27FC236}">
                <a16:creationId xmlns:a16="http://schemas.microsoft.com/office/drawing/2014/main" id="{79EEE18D-9905-0991-6B3F-72924E4C9D6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prstGeom prst="ellipse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D6951F-BEE9-9125-7D72-8A5ADBC9EB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ln>
            <a:solidFill>
              <a:schemeClr val="accent3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51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FAF5-51A2-CDB8-4F8E-9A5CFEF3D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Sora SemiBold"/>
                <a:cs typeface="Sora SemiBold"/>
              </a:rPr>
              <a:t>motivation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A10AD-CB90-A44A-1CFA-28B447938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56" y="1925637"/>
            <a:ext cx="3188766" cy="29595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democratise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access to AI via open weight models</a:t>
            </a: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remotely run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on Isambard AI, and use locally, no specialist knowledge required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sovereign unmetered inferencing for research</a:t>
            </a: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privacy preservation</a:t>
            </a:r>
            <a:endParaRPr lang="en-US" dirty="0"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9DAA37F-E6D8-08FF-29D4-8474773FEA0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68" r="168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6" name="Picture Placeholder 11" descr="QR Code Image">
            <a:extLst>
              <a:ext uri="{FF2B5EF4-FFF2-40B4-BE49-F238E27FC236}">
                <a16:creationId xmlns:a16="http://schemas.microsoft.com/office/drawing/2014/main" id="{E3D1CCA2-34CB-EFF3-BA80-C6CED7233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" r="5556"/>
          <a:stretch/>
        </p:blipFill>
        <p:spPr>
          <a:xfrm>
            <a:off x="3570019" y="152152"/>
            <a:ext cx="935182" cy="9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8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D62718-2A47-1A77-6351-7328ABE46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ECA67F-4DD0-4E5D-D063-2AC31B8047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Sora SemiBold"/>
                <a:cs typeface="Sora SemiBold"/>
              </a:rPr>
              <a:t>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A0729-4FB9-B95A-D054-D4C24D542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886189" cy="284205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>
              <a:buAutoNum type="arabicPeriod"/>
            </a:pPr>
            <a:r>
              <a:rPr lang="en-GB" b="0" dirty="0">
                <a:latin typeface="Open Sans SemiBold"/>
                <a:ea typeface="Open Sans SemiBold"/>
                <a:cs typeface="Open Sans SemiBold"/>
              </a:rPr>
              <a:t>install and configure </a:t>
            </a:r>
            <a:r>
              <a:rPr lang="en-GB" b="0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GB" b="0" dirty="0">
                <a:latin typeface="Open Sans SemiBold"/>
                <a:ea typeface="Open Sans SemiBold"/>
                <a:cs typeface="Open Sans SemiBold"/>
              </a:rPr>
              <a:t> on </a:t>
            </a:r>
            <a:r>
              <a:rPr lang="en-GB" b="0" dirty="0" err="1">
                <a:latin typeface="Open Sans SemiBold"/>
                <a:ea typeface="Open Sans SemiBold"/>
                <a:cs typeface="Open Sans SemiBold"/>
              </a:rPr>
              <a:t>isambard</a:t>
            </a:r>
            <a:r>
              <a:rPr lang="en-GB" b="0" dirty="0">
                <a:latin typeface="Open Sans SemiBold"/>
                <a:ea typeface="Open Sans SemiBold"/>
                <a:cs typeface="Open Sans SemiBold"/>
              </a:rPr>
              <a:t> AI (remote)</a:t>
            </a:r>
            <a:endParaRPr lang="en-GB" b="0" dirty="0">
              <a:ea typeface="Open Sans SemiBold" pitchFamily="2" charset="0"/>
              <a:cs typeface="Open Sans SemiBold" pitchFamily="2" charset="0"/>
            </a:endParaRPr>
          </a:p>
          <a:p>
            <a:pPr marL="342900" indent="-342900">
              <a:buAutoNum type="arabicPeriod"/>
            </a:pPr>
            <a:r>
              <a:rPr lang="en-GB" b="0" dirty="0">
                <a:latin typeface="Open Sans SemiBold"/>
                <a:ea typeface="Open Sans SemiBold"/>
                <a:cs typeface="Open Sans SemiBold"/>
              </a:rPr>
              <a:t>download open weight model from </a:t>
            </a:r>
            <a:r>
              <a:rPr lang="en-GB" b="0" dirty="0" err="1">
                <a:latin typeface="Open Sans SemiBold"/>
                <a:ea typeface="Open Sans SemiBold"/>
                <a:cs typeface="Open Sans SemiBold"/>
              </a:rPr>
              <a:t>huggingface</a:t>
            </a:r>
            <a:r>
              <a:rPr lang="en-GB" b="0" dirty="0">
                <a:latin typeface="Open Sans SemiBold"/>
                <a:ea typeface="Open Sans SemiBold"/>
                <a:cs typeface="Open Sans SemiBold"/>
              </a:rPr>
              <a:t> (remote)</a:t>
            </a:r>
            <a:endParaRPr lang="en-US" dirty="0">
              <a:ea typeface="Open Sans SemiBold"/>
              <a:cs typeface="Open Sans SemiBold"/>
            </a:endParaRPr>
          </a:p>
          <a:p>
            <a:pPr marL="342900" indent="-342900">
              <a:buAutoNum type="arabicPeriod"/>
            </a:pPr>
            <a:r>
              <a:rPr lang="en-GB" b="0" dirty="0">
                <a:latin typeface="Open Sans SemiBold"/>
                <a:ea typeface="Open Sans SemiBold"/>
                <a:cs typeface="Open Sans SemiBold"/>
              </a:rPr>
              <a:t>build model configuration file</a:t>
            </a:r>
            <a:endParaRPr lang="en-GB" b="0" dirty="0">
              <a:ea typeface="Open Sans SemiBold"/>
              <a:cs typeface="Open Sans SemiBold"/>
            </a:endParaRPr>
          </a:p>
          <a:p>
            <a:pPr marL="342900" indent="-342900">
              <a:buAutoNum type="arabicPeriod"/>
            </a:pPr>
            <a:r>
              <a:rPr lang="en-GB" b="0" dirty="0">
                <a:latin typeface="Open Sans SemiBold"/>
                <a:ea typeface="Open Sans SemiBold"/>
                <a:cs typeface="Open Sans SemiBold"/>
              </a:rPr>
              <a:t>start </a:t>
            </a:r>
            <a:r>
              <a:rPr lang="en-GB" b="0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GB" b="0" dirty="0">
                <a:latin typeface="Open Sans SemiBold"/>
                <a:ea typeface="Open Sans SemiBold"/>
                <a:cs typeface="Open Sans SemiBold"/>
              </a:rPr>
              <a:t> server from config (remote)</a:t>
            </a:r>
            <a:endParaRPr lang="en-GB" b="0" dirty="0">
              <a:ea typeface="Open Sans SemiBold"/>
              <a:cs typeface="Open Sans SemiBold"/>
            </a:endParaRPr>
          </a:p>
          <a:p>
            <a:pPr marL="342900" indent="-342900">
              <a:buAutoNum type="arabicPeriod"/>
            </a:pPr>
            <a:r>
              <a:rPr lang="en-GB" b="0" dirty="0">
                <a:latin typeface="Open Sans SemiBold"/>
                <a:ea typeface="Open Sans SemiBold"/>
                <a:cs typeface="Open Sans SemiBold"/>
              </a:rPr>
              <a:t>monitor server health &amp; idle time out (remote)</a:t>
            </a:r>
          </a:p>
          <a:p>
            <a:pPr marL="342900" indent="-342900">
              <a:buAutoNum type="arabicPeriod"/>
            </a:pPr>
            <a:r>
              <a:rPr lang="en-GB" b="0" dirty="0">
                <a:latin typeface="Open Sans SemiBold"/>
                <a:ea typeface="Open Sans SemiBold"/>
                <a:cs typeface="Open Sans SemiBold"/>
              </a:rPr>
              <a:t>expose </a:t>
            </a:r>
            <a:r>
              <a:rPr lang="en-GB" b="0" dirty="0" err="1">
                <a:latin typeface="Open Sans SemiBold"/>
                <a:ea typeface="Open Sans SemiBold"/>
                <a:cs typeface="Open Sans SemiBold"/>
              </a:rPr>
              <a:t>openAI</a:t>
            </a:r>
            <a:r>
              <a:rPr lang="en-GB" b="0" dirty="0">
                <a:latin typeface="Open Sans SemiBold"/>
                <a:ea typeface="Open Sans SemiBold"/>
                <a:cs typeface="Open Sans SemiBold"/>
              </a:rPr>
              <a:t> API on localhost (&amp; help connect client)</a:t>
            </a:r>
            <a:endParaRPr lang="en-GB" dirty="0">
              <a:ea typeface="Open Sans SemiBold" pitchFamily="2" charset="0"/>
              <a:cs typeface="Open Sans SemiBold" pitchFamily="2" charset="0"/>
            </a:endParaRPr>
          </a:p>
          <a:p>
            <a:pPr marL="342900" indent="-342900">
              <a:buAutoNum type="arabicPeriod"/>
            </a:pPr>
            <a:r>
              <a:rPr lang="en-GB" b="0" dirty="0">
                <a:latin typeface="Open Sans SemiBold"/>
                <a:ea typeface="Open Sans SemiBold"/>
                <a:cs typeface="Open Sans SemiBold"/>
              </a:rPr>
              <a:t>collect diagnostics, setup benchmarking (remote)</a:t>
            </a:r>
            <a:endParaRPr lang="en-GB" b="0" dirty="0">
              <a:ea typeface="Open Sans SemiBold"/>
              <a:cs typeface="Open Sans SemiBold"/>
            </a:endParaRPr>
          </a:p>
        </p:txBody>
      </p:sp>
      <p:pic>
        <p:nvPicPr>
          <p:cNvPr id="12" name="Picture Placeholder 11" descr="QR Code Image">
            <a:extLst>
              <a:ext uri="{FF2B5EF4-FFF2-40B4-BE49-F238E27FC236}">
                <a16:creationId xmlns:a16="http://schemas.microsoft.com/office/drawing/2014/main" id="{4A9F6E5A-FCA0-6518-A213-BE40551B8A5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5556" r="5556"/>
          <a:stretch/>
        </p:blipFill>
        <p:spPr>
          <a:xfrm>
            <a:off x="3570019" y="152152"/>
            <a:ext cx="935182" cy="942604"/>
          </a:xfrm>
          <a:prstGeom prst="rect">
            <a:avLst/>
          </a:prstGeom>
        </p:spPr>
      </p:pic>
      <p:pic>
        <p:nvPicPr>
          <p:cNvPr id="11" name="Picture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78D357D-2B6E-CAC3-F02E-B1BDDB2BA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7" b="4637"/>
          <a:stretch/>
        </p:blipFill>
        <p:spPr>
          <a:xfrm>
            <a:off x="4645778" y="-443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1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ABF23-F3CB-D221-752D-CCC1F2C6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F60C8-10F4-A147-77D0-3AACE95DBF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Sora SemiBold"/>
                <a:cs typeface="Sora SemiBold"/>
              </a:rPr>
              <a:t>architecture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81562-AF2C-724F-3267-0495EE3889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56" y="1925637"/>
            <a:ext cx="3653940" cy="285317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bun/node.js CLI frontend</a:t>
            </a:r>
            <a:endParaRPr lang="en-US" dirty="0">
              <a:ea typeface="Open Sans SemiBold" pitchFamily="2" charset="0"/>
              <a:cs typeface="Open Sans SemiBold" pitchFamily="2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BASH CLI backend on Isambard via SSH</a:t>
            </a:r>
            <a:endParaRPr lang="en-US" dirty="0">
              <a:ea typeface="Open Sans SemiBold" pitchFamily="2" charset="0"/>
              <a:cs typeface="Open Sans SemiBold" pitchFamily="2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SLURM job submission</a:t>
            </a:r>
            <a:endParaRPr lang="en-US" dirty="0">
              <a:ea typeface="Open Sans SemiBold" pitchFamily="2" charset="0"/>
              <a:cs typeface="Open Sans SemiBold" pitchFamily="2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coordination via status file on shared filesystem</a:t>
            </a: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SSH tunnel from localhost to compute node</a:t>
            </a: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vllm job shared between project users</a:t>
            </a:r>
          </a:p>
          <a:p>
            <a:pPr>
              <a:buNone/>
            </a:pPr>
            <a:endParaRPr lang="en-US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initial versions completely vibe coded</a:t>
            </a:r>
          </a:p>
          <a:p>
            <a:pPr>
              <a:buNone/>
            </a:pPr>
            <a:endParaRPr lang="en-US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v3 rewritten by hand with AI support</a:t>
            </a:r>
          </a:p>
          <a:p>
            <a:pPr>
              <a:buNone/>
            </a:pPr>
            <a:endParaRPr lang="en-US" dirty="0">
              <a:latin typeface="Open Sans SemiBold"/>
              <a:ea typeface="Open Sans SemiBold"/>
              <a:cs typeface="Open Sans SemiBold"/>
            </a:endParaRPr>
          </a:p>
          <a:p>
            <a:pPr>
              <a:buAutoNum type="arabicPeriod"/>
            </a:pPr>
            <a:endParaRPr lang="en-US" dirty="0">
              <a:latin typeface="Open Sans SemiBold"/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244B0A8-EE89-F988-C57E-D5CEA13DD4B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637" b="4637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6" name="Picture Placeholder 11" descr="QR Code Image">
            <a:extLst>
              <a:ext uri="{FF2B5EF4-FFF2-40B4-BE49-F238E27FC236}">
                <a16:creationId xmlns:a16="http://schemas.microsoft.com/office/drawing/2014/main" id="{6224D074-B3B2-370E-0CB6-2083CE5D2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" r="5556"/>
          <a:stretch/>
        </p:blipFill>
        <p:spPr>
          <a:xfrm>
            <a:off x="3570019" y="152152"/>
            <a:ext cx="935182" cy="9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4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884B9-4EDA-60BF-EA06-52A726C17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75BA1B-3E56-C947-B661-1699EDF3EE73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D149D-39F7-A3E8-27CF-E3A4858E6E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Sora SemiBold"/>
                <a:cs typeface="Sora SemiBold"/>
              </a:rPr>
              <a:t>status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4C944-5144-AC43-D4E3-7DF726E92C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56" y="1872475"/>
            <a:ext cx="3873236" cy="303995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GB" dirty="0">
                <a:latin typeface="Open Sans SemiBold"/>
                <a:ea typeface="Open Sans SemiBold"/>
                <a:cs typeface="Open Sans SemiBold"/>
              </a:rPr>
              <a:t>maturing alpha status project – fully functional, expect bugs</a:t>
            </a:r>
            <a:endParaRPr lang="en-US">
              <a:ea typeface="Open Sans SemiBold" pitchFamily="2" charset="0"/>
              <a:cs typeface="Open Sans SemiBold" pitchFamily="2" charset="0"/>
            </a:endParaRPr>
          </a:p>
          <a:p>
            <a:pPr>
              <a:buNone/>
            </a:pPr>
            <a:endParaRPr lang="en-GB" dirty="0">
              <a:ea typeface="Open Sans SemiBold" pitchFamily="2" charset="0"/>
              <a:cs typeface="Open Sans SemiBold" pitchFamily="2" charset="0"/>
            </a:endParaRPr>
          </a:p>
          <a:p>
            <a:pPr>
              <a:buNone/>
            </a:pPr>
            <a:r>
              <a:rPr lang="en-GB" dirty="0">
                <a:latin typeface="Open Sans SemiBold"/>
                <a:ea typeface="Open Sans SemiBold"/>
                <a:cs typeface="Open Sans SemiBold"/>
              </a:rPr>
              <a:t>11 open weight models actively supported from 27 – 550B parameter range</a:t>
            </a:r>
            <a:endParaRPr lang="en-GB" dirty="0">
              <a:ea typeface="Open Sans SemiBold" pitchFamily="2" charset="0"/>
              <a:cs typeface="Open Sans SemiBold" pitchFamily="2" charset="0"/>
            </a:endParaRPr>
          </a:p>
          <a:p>
            <a:pPr marL="285750" indent="-285750"/>
            <a:r>
              <a:rPr lang="en-GB" dirty="0">
                <a:latin typeface="Open Sans SemiBold"/>
                <a:ea typeface="Open Sans SemiBold"/>
                <a:cs typeface="Open Sans SemiBold"/>
              </a:rPr>
              <a:t>e.g. QWEN 3.8 Flash Next, Minimax M3, GLM5.2, </a:t>
            </a:r>
            <a:r>
              <a:rPr lang="en-GB" dirty="0" err="1">
                <a:latin typeface="Open Sans SemiBold"/>
                <a:ea typeface="Open Sans SemiBold"/>
                <a:cs typeface="Open Sans SemiBold"/>
              </a:rPr>
              <a:t>Deepseek</a:t>
            </a:r>
            <a:r>
              <a:rPr lang="en-GB" dirty="0">
                <a:latin typeface="Open Sans SemiBold"/>
                <a:ea typeface="Open Sans SemiBold"/>
                <a:cs typeface="Open Sans SemiBold"/>
              </a:rPr>
              <a:t> 4 Flash,  </a:t>
            </a:r>
            <a:r>
              <a:rPr lang="en-GB" dirty="0" err="1">
                <a:latin typeface="Open Sans SemiBold"/>
                <a:ea typeface="Open Sans SemiBold"/>
                <a:cs typeface="Open Sans SemiBold"/>
              </a:rPr>
              <a:t>Nemotron</a:t>
            </a:r>
            <a:r>
              <a:rPr lang="en-GB" dirty="0">
                <a:latin typeface="Open Sans SemiBold"/>
                <a:ea typeface="Open Sans SemiBold"/>
                <a:cs typeface="Open Sans SemiBold"/>
              </a:rPr>
              <a:t> Ultra, Gemma 4, GPT-OSS, Mistral medium</a:t>
            </a:r>
            <a:endParaRPr lang="en-GB" dirty="0">
              <a:ea typeface="Open Sans SemiBold" pitchFamily="2" charset="0"/>
              <a:cs typeface="Open Sans SemiBold" pitchFamily="2" charset="0"/>
            </a:endParaRPr>
          </a:p>
          <a:p>
            <a:pPr>
              <a:buNone/>
            </a:pPr>
            <a:endParaRPr lang="en-GB" dirty="0">
              <a:ea typeface="Open Sans SemiBold" pitchFamily="2" charset="0"/>
              <a:cs typeface="Open Sans SemiBold" pitchFamily="2" charset="0"/>
            </a:endParaRPr>
          </a:p>
          <a:p>
            <a:pPr>
              <a:buNone/>
            </a:pPr>
            <a:r>
              <a:rPr lang="en-GB" dirty="0">
                <a:latin typeface="Open Sans SemiBold"/>
                <a:ea typeface="Open Sans SemiBold"/>
                <a:cs typeface="Open Sans SemiBold"/>
              </a:rPr>
              <a:t>proof of concept testing in government partners, summer internships, University of Exeter.</a:t>
            </a:r>
            <a:endParaRPr lang="en-GB" dirty="0">
              <a:ea typeface="Open Sans SemiBold" pitchFamily="2" charset="0"/>
              <a:cs typeface="Open Sans SemiBold" pitchFamily="2" charset="0"/>
            </a:endParaRPr>
          </a:p>
          <a:p>
            <a:pPr>
              <a:buNone/>
            </a:pPr>
            <a:endParaRPr lang="en-GB" dirty="0">
              <a:ea typeface="Open Sans SemiBold" pitchFamily="2" charset="0"/>
              <a:cs typeface="Open Sans SemiBold" pitchFamily="2" charset="0"/>
            </a:endParaRPr>
          </a:p>
          <a:p>
            <a:pPr>
              <a:buNone/>
            </a:pPr>
            <a:r>
              <a:rPr lang="en-GB" dirty="0">
                <a:latin typeface="Open Sans SemiBold"/>
                <a:ea typeface="Open Sans SemiBold"/>
                <a:cs typeface="Open Sans SemiBold"/>
              </a:rPr>
              <a:t>seeking testers / collaborators from different Isambard project(s).</a:t>
            </a:r>
          </a:p>
          <a:p>
            <a:pPr>
              <a:buNone/>
            </a:pPr>
            <a:endParaRPr lang="en-GB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GB" dirty="0">
                <a:latin typeface="Open Sans SemiBold"/>
                <a:ea typeface="Open Sans SemiBold"/>
                <a:cs typeface="Open Sans SemiBold"/>
              </a:rPr>
              <a:t>integrate new models like GLM 5.3 Flash and DeepSeek 4.1 Flash</a:t>
            </a:r>
            <a:endParaRPr lang="en-GB" dirty="0">
              <a:ea typeface="Open Sans SemiBold" pitchFamily="2" charset="0"/>
              <a:cs typeface="Open Sans SemiBold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5C44B-6BCB-4DB8-F971-7C85A38EE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973" y="0"/>
            <a:ext cx="3885169" cy="51435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117352C-1F54-90B3-6F10-BB6106BB2A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0" y="0"/>
            <a:ext cx="4572000" cy="5143500"/>
          </a:xfrm>
        </p:spPr>
      </p:sp>
      <p:pic>
        <p:nvPicPr>
          <p:cNvPr id="11" name="Picture Placeholder 11" descr="QR Code Image">
            <a:extLst>
              <a:ext uri="{FF2B5EF4-FFF2-40B4-BE49-F238E27FC236}">
                <a16:creationId xmlns:a16="http://schemas.microsoft.com/office/drawing/2014/main" id="{5BCCD70D-F784-E0D2-FF5E-E5ECBAA7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" r="5556"/>
          <a:stretch/>
        </p:blipFill>
        <p:spPr>
          <a:xfrm>
            <a:off x="3570019" y="152152"/>
            <a:ext cx="935182" cy="9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42120F-E63F-56D1-F939-F006D62AC5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Open Sans SemiBold"/>
                <a:ea typeface="Open Sans SemiBold"/>
                <a:cs typeface="Open Sans SemiBold"/>
              </a:rPr>
              <a:t>Rob Challen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FC596-7F62-876D-7780-08F67964C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latin typeface="Open Sans SemiBold"/>
                <a:ea typeface="Open Sans SemiBold"/>
                <a:cs typeface="Open Sans SemiBold"/>
              </a:rPr>
              <a:t>https://github.com/ai4ci/ivllm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3BC105-F465-4635-016A-A9C45FE9A4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6" name="Picture Placeholder 11" descr="QR Code Image">
            <a:extLst>
              <a:ext uri="{FF2B5EF4-FFF2-40B4-BE49-F238E27FC236}">
                <a16:creationId xmlns:a16="http://schemas.microsoft.com/office/drawing/2014/main" id="{39F00DD6-A2FB-0A20-46AD-9E23D94868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6" r="5556"/>
          <a:stretch/>
        </p:blipFill>
        <p:spPr>
          <a:xfrm>
            <a:off x="517966" y="3429157"/>
            <a:ext cx="935182" cy="9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0B8F-8480-6D00-1E2E-A22E02CE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3808-2BE3-D7FD-2642-333F797AE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Sora SemiBold"/>
                <a:cs typeface="Sora SemiBold"/>
              </a:rPr>
              <a:t>prerequisites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C3C0C-5332-D048-B57D-D57BB5C157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188766" cy="2514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isambard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AI project</a:t>
            </a:r>
            <a:endParaRPr lang="en-US" dirty="0"/>
          </a:p>
          <a:p>
            <a:pPr>
              <a:buNone/>
            </a:pPr>
            <a:endParaRPr lang="en-US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ability to connect to Isambard AI via SSH</a:t>
            </a: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ssh-agent cached key passphrase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96F9D74-B3DF-2276-B8D3-C8193B9DD52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637" b="463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6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D8F9-C5FA-0181-03EB-1168295A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DD88-7489-E588-01F5-1A371A5458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ora SemiBold"/>
                <a:cs typeface="Sora SemiBold"/>
              </a:rPr>
              <a:t>ivllm</a:t>
            </a:r>
            <a:r>
              <a:rPr lang="en-US" dirty="0">
                <a:latin typeface="Sora SemiBold"/>
                <a:cs typeface="Sora SemiBold"/>
              </a:rPr>
              <a:t> CLI</a:t>
            </a:r>
            <a:endParaRPr lang="en-US" dirty="0">
              <a:cs typeface="Sora SemiBol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79C93-696C-BDCF-B77B-C35388C59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684784" cy="289166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job status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 setup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job connect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job cancellation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diagnostics / debug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benchmarking (experimental)</a:t>
            </a: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D8BF3C2-4F59-D1E8-FE43-A6F681BCF74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68" r="168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63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800A2-A5A6-DDB2-E9D0-D99344FE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48D8-6ADE-D86E-3F0D-2C5B28821A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ora SemiBold"/>
                <a:cs typeface="Sora SemiBold"/>
              </a:rPr>
              <a:t>ivllm</a:t>
            </a:r>
            <a:r>
              <a:rPr lang="en-US" dirty="0">
                <a:latin typeface="Sora SemiBold"/>
                <a:cs typeface="Sora SemiBold"/>
              </a:rPr>
              <a:t> status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FCB40-8983-E492-E2EA-2911C5F49E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188766" cy="2514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view running jobs in your Isambard AI project</a:t>
            </a:r>
            <a:endParaRPr lang="en-US"/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view cached configurations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working examples: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nemotron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ultra, minimax M3, GLM 5.2, Qwen 3.8 Flash Next and more...</a:t>
            </a:r>
            <a:endParaRPr lang="en-US" dirty="0"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C4FF878-4E4C-4C13-A095-7B7B6131FF1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68" r="168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35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4EF2-A006-7299-387D-884652C9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0C9A-E4D5-93F4-25CA-4CF5871AD3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ora SemiBold"/>
                <a:cs typeface="Sora SemiBold"/>
              </a:rPr>
              <a:t>ivllm</a:t>
            </a:r>
            <a:r>
              <a:rPr lang="en-US" dirty="0">
                <a:latin typeface="Sora SemiBold"/>
                <a:cs typeface="Sora SemiBold"/>
              </a:rPr>
              <a:t> setup &lt;version&gt;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7341C-4D3F-F041-B7D2-04E0DF65FF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695567" cy="29240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project one time setup of a new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 version</a:t>
            </a:r>
            <a:endParaRPr lang="en-US" b="0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runs remotely using SLURM</a:t>
            </a:r>
            <a:endParaRPr lang="en-US" b="0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install 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cuda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 forward compatibility</a:t>
            </a:r>
            <a:endParaRPr lang="en-US" b="0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install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, 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flashinfer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-cache (wheels); 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DeepGEMM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, UCCL-EP, NIXL, 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hpc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-ops (source)</a:t>
            </a:r>
            <a:endParaRPr lang="en-US" b="0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pins NCCL to 2.30.4</a:t>
            </a:r>
            <a:endParaRPr lang="en-US" b="0" dirty="0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isambard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 specific hardware configuration</a:t>
            </a:r>
            <a:endParaRPr lang="en-US" b="0" dirty="0" err="1">
              <a:latin typeface="Open Sans SemiBold"/>
              <a:ea typeface="Open Sans SemiBold"/>
              <a:cs typeface="Open Sans SemiBold"/>
            </a:endParaRP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584EAA3-748C-28FD-5797-AA429903308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637" b="4637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63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3B377-87F6-D2FD-6680-98EA10B7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5B6F-A01D-40BA-825D-8BDB3A2C3C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ora SemiBold"/>
                <a:cs typeface="Sora SemiBold"/>
              </a:rPr>
              <a:t>vllm.yaml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70967-D3D7-AA86-8019-17E76E3EAA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188766" cy="283775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model selection and job specific configuration, multi-node, tensor parallelism, etc.</a:t>
            </a:r>
            <a:endParaRPr lang="en-US">
              <a:ea typeface="Open Sans SemiBold"/>
              <a:cs typeface="Open Sans SemiBold"/>
            </a:endParaRP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agent skill to help build configuration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working examples</a:t>
            </a: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endParaRPr lang="en-US" dirty="0">
              <a:ea typeface="Open Sans SemiBold"/>
              <a:cs typeface="Open Sans SemiBold"/>
            </a:endParaRPr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one-off authoring - cached on Isambard AI</a:t>
            </a:r>
            <a:endParaRPr lang="en-US" dirty="0"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750B8CB-543B-8CBC-07B0-F9A1FB5DA2D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68" r="168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33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2730C-32E2-017E-CFB3-C6984D04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9267-C9A0-8A6B-D30D-D4CCE3CB4B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ora SemiBold"/>
                <a:cs typeface="Sora SemiBold"/>
              </a:rPr>
              <a:t>ivllm</a:t>
            </a:r>
            <a:r>
              <a:rPr lang="en-US" dirty="0">
                <a:latin typeface="Sora SemiBold"/>
                <a:cs typeface="Sora SemiBold"/>
              </a:rPr>
              <a:t> connect &lt;job&gt;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5C9A9-8966-9DA3-7626-3AF4F8AB4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652435" cy="29779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reconnect to running job </a:t>
            </a:r>
            <a:r>
              <a:rPr lang="en-US" u="sng" dirty="0">
                <a:latin typeface="Open Sans SemiBold"/>
                <a:ea typeface="Open Sans SemiBold"/>
                <a:cs typeface="Open Sans SemiBold"/>
              </a:rPr>
              <a:t>OR</a:t>
            </a:r>
            <a:endParaRPr lang="en-US" u="sng"/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submit SLURM job remotely</a:t>
            </a:r>
            <a:endParaRPr lang="en-US" dirty="0">
              <a:ea typeface="Open Sans SemiBold" pitchFamily="2" charset="0"/>
              <a:cs typeface="Open Sans SemiBold" pitchFamily="2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download and cache model weights from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huggingface</a:t>
            </a:r>
            <a:endParaRPr lang="en-US" dirty="0">
              <a:latin typeface="Open Sans SemiBold"/>
              <a:ea typeface="Open Sans SemiBold"/>
              <a:cs typeface="Open Sans SemiBold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run 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with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vllm.yaml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config</a:t>
            </a:r>
            <a:endParaRPr lang="en-US" dirty="0">
              <a:ea typeface="Open Sans SemiBold" pitchFamily="2" charset="0"/>
              <a:cs typeface="Open Sans SemiBold" pitchFamily="2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build ssh tunnel from compute node to localhost</a:t>
            </a: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monitor process and capture diagnostics</a:t>
            </a:r>
          </a:p>
          <a:p>
            <a:pPr marL="342900" indent="-342900">
              <a:buAutoNum type="arabicPeriod"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idle timeout detection, manual cancel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F33B666-D797-0B43-A7B4-E6617B33166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637" b="4637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05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F22DC-DCC1-EF14-B491-9348AAAB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C2DE-772F-8AFB-0472-5056FE02A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Sora SemiBold"/>
                <a:cs typeface="Sora SemiBold"/>
              </a:rPr>
              <a:t>pi with </a:t>
            </a:r>
            <a:r>
              <a:rPr lang="en-US" dirty="0" err="1">
                <a:latin typeface="Sora SemiBold"/>
                <a:cs typeface="Sora SemiBold"/>
              </a:rPr>
              <a:t>vllm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CFD17-957A-FFF1-6AD8-83740568CA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188766" cy="2514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on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isambard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 serves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openAI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compatible endpoint on localhost:11434 via ssh tunnel</a:t>
            </a:r>
            <a:endParaRPr lang="en-US"/>
          </a:p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pi package to configure connection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3C53C6A-9E28-4607-7775-F407F4D6DF8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637" b="4637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30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AC3B1-48BF-542D-72B5-E8EE92A9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E45B9-7B30-3D57-0342-C9561A26C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Sora SemiBold"/>
                <a:cs typeface="Sora SemiBold"/>
              </a:rPr>
              <a:t>copilot-cli with </a:t>
            </a:r>
            <a:r>
              <a:rPr lang="en-US" dirty="0" err="1">
                <a:latin typeface="Sora SemiBold"/>
                <a:cs typeface="Sora SemiBold"/>
              </a:rPr>
              <a:t>vllm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8EB16-A885-E891-336B-18DA4CC1AE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188766" cy="2514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launch copilot-cli with env-variables to use localhost:11434</a:t>
            </a:r>
            <a:endParaRPr lang="en-US"/>
          </a:p>
          <a:p>
            <a:endParaRPr lang="en-US" dirty="0">
              <a:latin typeface="Open Sans SemiBold"/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CB9AF03-6CBE-6418-BF19-AC087DF538C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637" b="4637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87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58B8-A1A2-CD3D-2052-EF9619A8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B541-1CB8-C227-B8D3-E55675E7BA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Sora SemiBold"/>
                <a:cs typeface="Sora SemiBold"/>
              </a:rPr>
              <a:t>claude</a:t>
            </a:r>
            <a:r>
              <a:rPr lang="en-US" dirty="0">
                <a:latin typeface="Sora SemiBold"/>
                <a:cs typeface="Sora SemiBold"/>
              </a:rPr>
              <a:t> code with </a:t>
            </a:r>
            <a:r>
              <a:rPr lang="en-US" dirty="0" err="1">
                <a:latin typeface="Sora SemiBold"/>
                <a:cs typeface="Sora SemiBold"/>
              </a:rPr>
              <a:t>vllm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63F48-E9ED-44BA-1C8D-4A7B3F4E2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511" y="1925637"/>
            <a:ext cx="3188766" cy="2514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Open Sans SemiBold"/>
                <a:ea typeface="Open Sans SemiBold"/>
                <a:cs typeface="Open Sans SemiBold"/>
              </a:rPr>
              <a:t>likewise 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claude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code or any other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openai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 compatible client can use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vllm</a:t>
            </a:r>
            <a:r>
              <a:rPr lang="en-US" dirty="0">
                <a:latin typeface="Open Sans SemiBold"/>
                <a:ea typeface="Open Sans SemiBold"/>
                <a:cs typeface="Open Sans SemiBold"/>
              </a:rPr>
              <a:t> on </a:t>
            </a:r>
            <a:r>
              <a:rPr lang="en-US" dirty="0" err="1">
                <a:latin typeface="Open Sans SemiBold"/>
                <a:ea typeface="Open Sans SemiBold"/>
                <a:cs typeface="Open Sans SemiBold"/>
              </a:rPr>
              <a:t>isambard</a:t>
            </a:r>
            <a:endParaRPr lang="en-US" dirty="0">
              <a:latin typeface="Open Sans SemiBold"/>
              <a:ea typeface="Open Sans SemiBold"/>
              <a:cs typeface="Open Sans SemiBold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62AFF3B-6E22-0653-1A98-B424F4CD506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4637" b="4637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8187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tyle">
  <a:themeElements>
    <a:clrScheme name="University of Bristol Brand Colours">
      <a:dk1>
        <a:srgbClr val="000000"/>
      </a:dk1>
      <a:lt1>
        <a:srgbClr val="FFFFFF"/>
      </a:lt1>
      <a:dk2>
        <a:srgbClr val="A6192E"/>
      </a:dk2>
      <a:lt2>
        <a:srgbClr val="FEFFFF"/>
      </a:lt2>
      <a:accent1>
        <a:srgbClr val="FFD700"/>
      </a:accent1>
      <a:accent2>
        <a:srgbClr val="70DEFF"/>
      </a:accent2>
      <a:accent3>
        <a:srgbClr val="BBE977"/>
      </a:accent3>
      <a:accent4>
        <a:srgbClr val="FFADFC"/>
      </a:accent4>
      <a:accent5>
        <a:srgbClr val="E7DFC6"/>
      </a:accent5>
      <a:accent6>
        <a:srgbClr val="A6192E"/>
      </a:accent6>
      <a:hlink>
        <a:srgbClr val="0563C1"/>
      </a:hlink>
      <a:folHlink>
        <a:srgbClr val="E7DFC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" id="{F19A745B-4DE4-4FD6-9994-99CEF396B95F}" vid="{411170C0-0468-4B57-95C3-FAA9144AAE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b9d0e4-5370-4cfb-9e4e-bdf6de379f60" xsi:nil="true"/>
    <lcf76f155ced4ddcb4097134ff3c332f xmlns="73a3add5-6b09-4a56-9bc7-30af613c133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5D75436A52549B7ED19092B2E07A8" ma:contentTypeVersion="16" ma:contentTypeDescription="Create a new document." ma:contentTypeScope="" ma:versionID="b4a12d028d0d35f855902b0273bea3d9">
  <xsd:schema xmlns:xsd="http://www.w3.org/2001/XMLSchema" xmlns:xs="http://www.w3.org/2001/XMLSchema" xmlns:p="http://schemas.microsoft.com/office/2006/metadata/properties" xmlns:ns2="73a3add5-6b09-4a56-9bc7-30af613c1337" xmlns:ns3="edb9d0e4-5370-4cfb-9e4e-bdf6de379f60" xmlns:ns4="d1cf97c3-d43a-41a1-b8e4-c0cfd6ebd5e1" targetNamespace="http://schemas.microsoft.com/office/2006/metadata/properties" ma:root="true" ma:fieldsID="eb69909cf4d4fa141250888533ddd8b3" ns2:_="" ns3:_="" ns4:_="">
    <xsd:import namespace="73a3add5-6b09-4a56-9bc7-30af613c1337"/>
    <xsd:import namespace="edb9d0e4-5370-4cfb-9e4e-bdf6de379f60"/>
    <xsd:import namespace="d1cf97c3-d43a-41a1-b8e4-c0cfd6ebd5e1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a3add5-6b09-4a56-9bc7-30af613c133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d97a6e6-d1a5-4f5a-9617-3779127589de}" ma:internalName="TaxCatchAll" ma:showField="CatchAllData" ma:web="db58e496-3217-4c2e-99be-bae25f41cc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7c3-d43a-41a1-b8e4-c0cfd6ebd5e1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EE19CF-CE3D-43B5-BD4D-AB4BDE50F5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A392B5-1976-40E2-B69F-141B1F1A79DB}">
  <ds:schemaRefs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d1cf97c3-d43a-41a1-b8e4-c0cfd6ebd5e1"/>
    <ds:schemaRef ds:uri="http://schemas.microsoft.com/office/2006/documentManagement/types"/>
    <ds:schemaRef ds:uri="http://schemas.microsoft.com/office/infopath/2007/PartnerControls"/>
    <ds:schemaRef ds:uri="edb9d0e4-5370-4cfb-9e4e-bdf6de379f60"/>
    <ds:schemaRef ds:uri="73a3add5-6b09-4a56-9bc7-30af613c13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76DC804-2EEC-4EE3-9C1C-A6C9E634B4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a3add5-6b09-4a56-9bc7-30af613c1337"/>
    <ds:schemaRef ds:uri="edb9d0e4-5370-4cfb-9e4e-bdf6de379f60"/>
    <ds:schemaRef ds:uri="d1cf97c3-d43a-41a1-b8e4-c0cfd6ebd5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PowerPoint-template</Template>
  <TotalTime>0</TotalTime>
  <Words>422</Words>
  <Application>Microsoft Office PowerPoint</Application>
  <PresentationFormat>On-screen Show (16:9)</PresentationFormat>
  <Paragraphs>73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Master style</vt:lpstr>
      <vt:lpstr>ivllm: open weight inferencing on Isambard AI</vt:lpstr>
      <vt:lpstr>motivation</vt:lpstr>
      <vt:lpstr>scope</vt:lpstr>
      <vt:lpstr>architecture</vt:lpstr>
      <vt:lpstr>status</vt:lpstr>
      <vt:lpstr>PowerPoint Presentation</vt:lpstr>
      <vt:lpstr>prerequisites</vt:lpstr>
      <vt:lpstr>ivllm CLI</vt:lpstr>
      <vt:lpstr>ivllm status</vt:lpstr>
      <vt:lpstr>ivllm setup &lt;version&gt;</vt:lpstr>
      <vt:lpstr>vllm.yaml</vt:lpstr>
      <vt:lpstr>ivllm connect &lt;job&gt;</vt:lpstr>
      <vt:lpstr>pi with vllm</vt:lpstr>
      <vt:lpstr>copilot-cli with vllm</vt:lpstr>
      <vt:lpstr>claude code with vllm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Axford</dc:creator>
  <cp:lastModifiedBy>Rebecca Axford</cp:lastModifiedBy>
  <cp:revision>633</cp:revision>
  <dcterms:created xsi:type="dcterms:W3CDTF">2026-06-03T13:58:57Z</dcterms:created>
  <dcterms:modified xsi:type="dcterms:W3CDTF">2026-09-28T11:56:15Z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0x0101001B05D75436A52549B7ED19092B2E07A8</vt:lpwstr>
  </property>
  <property fmtid="{D5CDD505-2E9C-101B-9397-08002B2CF9AE}" pid="3" name="MediaServiceImageTags">
    <vt:lpwstr/>
  </property>
</Properties>
</file>